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96F68-FAD5-4C2D-A467-35CA3C1EC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0894A-8FA3-4D8D-9812-DC45E04C0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1B566-512D-4F92-A1D4-66AA0066A8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60792E3-D524-454C-8AFD-A91972900BCB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792B8-DF70-4499-9F74-54A06DCACA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6B82D-8DAF-43A9-B98F-E9E5B860D9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5B7E1BAA-A38D-40DE-B22C-DF9BD7D820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EE14-3F5F-499F-9337-C5696BCF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55A01-5E80-4A17-BF55-01BBB5650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DBCC9-805E-4E0A-8901-42DB6E39B8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08B7524-32A2-4C20-A58C-BC3BAA1042FC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1969-D732-46F4-B61C-81A969147A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E79B-FF71-445E-8921-96FB3D6A88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77C3CE7-23F7-4828-823C-E0205DF2C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DCFCE-5AE4-4953-BB5E-F6BC7F9EC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E645C-8697-4372-A19E-A7A504EBB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F0989-148D-445A-B635-874ED911808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E994447-D6B2-43BB-A877-57F1A267B999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8EB85-5E26-4B78-8D97-CF06F4B45E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F2E95-363F-48A1-92E3-511272521B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41DB31D2-2A87-4F4C-A9AD-05C6CC2B32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D24D-BA78-4F45-A72E-8C52D3BD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E7C5-D3B2-4EEB-B032-00165A4A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476A7-3E60-4D1F-AEEE-3E8F7F98CF8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1B30FB-D12B-4C79-B4A6-FAA72A50B3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8920E16-BD35-483C-AA6B-346FC7E46DEA}" type="datetime1">
              <a:t>7/26/2026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C33A17-A09E-494A-BE85-C283D24BDF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52E82E-A3EA-41D9-8995-69A30C1C3F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1FC16D9-1635-4844-816A-0A8A2160FA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4B61-6449-48BF-B1F5-7DB15354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434DB-4BE6-4444-AB2E-6AC3A5A6D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71C4A-29C2-49E3-8166-8A43699E13D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C654F-56A0-4B81-9C57-D4C40070B99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E7DCE-2721-448D-8205-FED9A0611C8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0D7FB61-FB81-40E7-906D-A12CD30ECF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EAC6F8-5103-4FC0-A69E-5C6AE6469DA8}" type="datetime1">
              <a:t>7/26/2026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C678D2D-2162-4C86-9F70-30D21B1A32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53E93A-277D-40BF-99FB-522A8F3C0D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1C4100A-98DE-4944-910A-A93F5CA9F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9CA2-BDEB-43C4-B303-037FCD6BC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18DF9B1-C795-41EA-8EB4-E4537105447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0C6921-0627-4C8F-83D5-0CF936D2FFDD}" type="datetime1">
              <a:t>7/26/2026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40194B4-CB38-4883-89AA-81424EBFF87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753D63-3C09-4EC1-A593-502A3AF317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A63342B-5A73-45DC-864D-086DE78037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B5781BC-7C62-42A9-8CD4-55022A5B1A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F08AD7-8103-40F8-983C-E2BA6BB9CBE0}" type="datetime1">
              <a:t>7/26/2026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242CFCF-BCE0-433D-9C6F-19B4A08512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F33EE22-6A8B-4247-A4E1-0B80C75821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635AFB3-1ACD-44AC-8702-86B1729DF0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78CA-0C50-4E93-AD76-A366C06D6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C91A3-8C9F-45A2-9A16-11C842B38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A4A24-961C-4D92-93D3-A94CA9B83D1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E654D5-30B0-427B-94B4-FC8C9F7EBE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F8C06B4-9380-4A4D-AF49-A3596E17DAF5}" type="datetime1">
              <a:t>7/26/2026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BDE094-0BE6-4E8E-8AE2-E568E42AD8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012CD1-EE57-4EC5-88E5-6007D68277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CF15F3-5E77-4C57-9E21-50D6D1D6C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9936-8ACA-4843-A500-0A98301D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E89B0-EA38-4C13-9261-979C4DA4D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614E8-3977-4304-AA0F-8B8A1EC3FE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DD8F009-6AA0-4673-B8E3-91D4C72D22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F7FDEF1-C582-4E22-9E77-D68326471F28}" type="datetime1">
              <a:t>7/26/2026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2C8AFC6-08D2-4143-956B-2E0C20EABD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0491A63-4C2B-494B-8E0B-109E14240F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242169A-B3C7-4FB6-967F-AF95F4EB33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FE14-2D5B-478D-B7AA-D48C7B213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2870B-1661-4635-9323-BE99D7F79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257C0-CE64-4436-B0C1-58B224C330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3C3A68-6922-42D3-8905-ECC2D82A3469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BA1C3-2BAF-412D-93F4-F57B070287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348A7-0A75-41B5-810B-2C5507752D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4FDD027-5576-4F27-AAB6-1D994836EE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063AD4-CFF8-4369-93C2-2BA46FDF8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A3B2B-9BFF-41F5-BE81-5F9EDAFCF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10C82-0695-4D50-B601-46A28C4500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B69E9F4-7604-4950-A8B2-8ACDEDB1506E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08317-9996-46AC-8F31-A2106931CF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16AF0-FD68-4C21-A5A5-5049EEB522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957CE61-8714-431B-A40A-01B1C5541A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65AD6D0-3984-4156-BECA-48190664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8F4127F-BF09-42C4-B6F8-88025AA9C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33674-5C3F-4EE2-A410-FB88BBE77BB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780A9602-A9A9-453F-AEF1-37B5837E02CD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886AA-C490-4A4C-9ED6-0391F02E3AE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C2FC1-25C2-4093-8527-5FBDA692E07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SMART BUILDING AI AGENT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75FED6-38D0-DE9C-92C0-6E7FA635581C}" type="slidenum">
              <a:rPr/>
              <a:t>1</a:t>
            </a:fld>
            <a:endParaRPr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>
            <a:spLocks noGrp="1"/>
          </p:cNvSpPr>
          <p:nvPr/>
        </p:nvSpPr>
        <p:spPr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  <a:lvl2pPr marL="4572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2pPr>
            <a:lvl3pPr marL="9144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3pPr>
            <a:lvl4pPr marL="13716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4pPr>
            <a:lvl5pPr marL="18288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5pPr>
            <a:lvl6pPr marL="22860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  <a:p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SMART BUILDING AI 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>
            <a:spLocks noGrp="1"/>
          </p:cNvSpPr>
          <p:nvPr/>
        </p:nvSpPr>
        <p:spPr>
          <a:xfrm>
            <a:off x="397274" y="1203454"/>
            <a:ext cx="592455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- 1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Theme: Smart Building AI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Category: Software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endParaRPr sz="2400" b="1">
              <a:latin typeface="Arial"/>
              <a:ea typeface="Arial"/>
              <a:cs typeface="Arial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EnergyPlus + Agentic AI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Closed-loop HVAC optimization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22C095F9-33E7-41C1-94E8-E81A89A06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buNone/>
            </a:pPr>
            <a:r>
              <a:t>AUTONOMOUS BUILDING OPTIMIZATION</a:t>
            </a:r>
          </a:p>
        </p:txBody>
      </p:sp>
      <p:sp>
        <p:nvSpPr>
          <p:cNvPr id="15362" name="TextBox 8">
            <a:extLst>
              <a:ext uri="{FF2B5EF4-FFF2-40B4-BE49-F238E27FC236}">
                <a16:creationId xmlns:a16="http://schemas.microsoft.com/office/drawing/2014/main" id="{52D2B005-240B-4E38-B1E3-7E78B804DB46}"/>
              </a:ext>
            </a:extLst>
          </p:cNvPr>
          <p:cNvSpPr>
            <a:spLocks noGrp="1"/>
          </p:cNvSpPr>
          <p:nvPr/>
        </p:nvSpPr>
        <p:spPr>
          <a:xfrm>
            <a:off x="513182" y="963909"/>
            <a:ext cx="12191999" cy="473975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2800" b="1" u="sng" dirty="0">
                <a:latin typeface="Arial"/>
                <a:ea typeface="Arial"/>
                <a:cs typeface="Arial"/>
              </a:rPr>
              <a:t>Problem: Building controls are often rigid and do not adapt to changing conditions.</a:t>
            </a:r>
          </a:p>
          <a:p>
            <a:pPr marL="342900" indent="-342900">
              <a:buFont typeface="Arial"/>
              <a:buChar char="•"/>
            </a:pPr>
            <a:endParaRPr sz="3200" b="1" u="sng" dirty="0">
              <a:latin typeface="Arial"/>
              <a:ea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sz="2400" b="1" dirty="0"/>
              <a:t>Solution: An AI agent reads </a:t>
            </a:r>
            <a:r>
              <a:rPr sz="2400" b="1" dirty="0" err="1"/>
              <a:t>EnergyPlus</a:t>
            </a:r>
            <a:r>
              <a:rPr sz="2400" b="1" dirty="0"/>
              <a:t> performance data, evaluates HVAC opportunities, and proposes safe setpoint changes.</a:t>
            </a:r>
          </a:p>
          <a:p>
            <a:pPr marL="342900" indent="-342900">
              <a:buFont typeface="Arial"/>
              <a:buChar char="•"/>
            </a:pPr>
            <a:endParaRPr dirty="0"/>
          </a:p>
          <a:p>
            <a:pPr marL="342900" indent="-342900">
              <a:buFont typeface="Arial"/>
              <a:buChar char="•"/>
            </a:pPr>
            <a:r>
              <a:rPr sz="2800" dirty="0">
                <a:latin typeface="Arial"/>
                <a:ea typeface="Arial"/>
                <a:cs typeface="Arial"/>
              </a:rPr>
              <a:t>Innovation: Physics-based simulation supplies measurable feedback, while a local open-source LLM selects tools and recommends actions.</a:t>
            </a:r>
          </a:p>
          <a:p>
            <a:pPr marL="342900" indent="-342900">
              <a:buFont typeface="Arial"/>
              <a:buChar char="•"/>
            </a:pPr>
            <a:endParaRPr sz="2800" dirty="0">
              <a:latin typeface="Arial"/>
              <a:ea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sz="2800" dirty="0">
                <a:latin typeface="Arial"/>
                <a:ea typeface="Arial"/>
                <a:cs typeface="Arial"/>
              </a:rPr>
              <a:t>Outcome: Every change is simulated again before energy and comfort impact are reported.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8C96B-32B1-4AE0-965C-3AA7A90A2E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69A11DB-C324-4444-8FAB-112FF3FAA5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SMART BUILDING AI AGENT</a:t>
            </a:r>
          </a:p>
        </p:txBody>
      </p:sp>
    </p:spTree>
    <p:extLst>
      <p:ext uri="{BB962C8B-B14F-4D97-AF65-F5344CB8AC3E}">
        <p14:creationId xmlns:p14="http://schemas.microsoft.com/office/powerpoint/2010/main" val="360579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82C1662D-AAA0-4311-938E-5D25844A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037EEEA5-5D3C-45D3-A3D6-AC1F01AF3011}"/>
              </a:ext>
            </a:extLst>
          </p:cNvPr>
          <p:cNvSpPr>
            <a:spLocks noGrp="1"/>
          </p:cNvSpPr>
          <p:nvPr/>
        </p:nvSpPr>
        <p:spPr>
          <a:xfrm>
            <a:off x="2197100" y="5308425"/>
            <a:ext cx="9385300" cy="10156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sz="1000" dirty="0">
                <a:latin typeface="Arial"/>
                <a:ea typeface="Arial"/>
                <a:cs typeface="Arial"/>
              </a:rPr>
              <a:t>Stack: Python, </a:t>
            </a:r>
            <a:r>
              <a:rPr sz="1000" dirty="0" err="1">
                <a:latin typeface="Arial"/>
                <a:ea typeface="Arial"/>
                <a:cs typeface="Arial"/>
              </a:rPr>
              <a:t>EnergyPlus</a:t>
            </a:r>
            <a:r>
              <a:rPr sz="1000" dirty="0">
                <a:latin typeface="Arial"/>
                <a:ea typeface="Arial"/>
                <a:cs typeface="Arial"/>
              </a:rPr>
              <a:t>, </a:t>
            </a:r>
            <a:r>
              <a:rPr sz="1000" dirty="0" err="1">
                <a:latin typeface="Arial"/>
                <a:ea typeface="Arial"/>
                <a:cs typeface="Arial"/>
              </a:rPr>
              <a:t>Ollama</a:t>
            </a:r>
            <a:r>
              <a:rPr sz="1000" dirty="0">
                <a:latin typeface="Arial"/>
                <a:ea typeface="Arial"/>
                <a:cs typeface="Arial"/>
              </a:rPr>
              <a:t>/Qwen2.5, </a:t>
            </a:r>
            <a:r>
              <a:rPr sz="1000" dirty="0" err="1">
                <a:latin typeface="Arial"/>
                <a:ea typeface="Arial"/>
                <a:cs typeface="Arial"/>
              </a:rPr>
              <a:t>Streamlit</a:t>
            </a:r>
            <a:r>
              <a:rPr sz="1000" dirty="0">
                <a:latin typeface="Arial"/>
                <a:ea typeface="Arial"/>
                <a:cs typeface="Arial"/>
              </a:rPr>
              <a:t>, </a:t>
            </a:r>
            <a:r>
              <a:rPr sz="1000" dirty="0" err="1">
                <a:latin typeface="Arial"/>
                <a:ea typeface="Arial"/>
                <a:cs typeface="Arial"/>
              </a:rPr>
              <a:t>Plotly</a:t>
            </a:r>
            <a:r>
              <a:rPr sz="1000" dirty="0">
                <a:latin typeface="Arial"/>
                <a:ea typeface="Arial"/>
                <a:cs typeface="Arial"/>
              </a:rPr>
              <a:t>, Pandas.</a:t>
            </a:r>
          </a:p>
          <a:p>
            <a:pPr marL="342900" indent="-342900">
              <a:buFont typeface="Arial"/>
              <a:buChar char="•"/>
            </a:pPr>
            <a:r>
              <a:rPr sz="1000" dirty="0">
                <a:latin typeface="Arial"/>
                <a:ea typeface="Arial"/>
                <a:cs typeface="Arial"/>
              </a:rPr>
              <a:t>Baseline -&gt; </a:t>
            </a:r>
            <a:r>
              <a:rPr sz="1000" dirty="0" err="1">
                <a:latin typeface="Arial"/>
                <a:ea typeface="Arial"/>
                <a:cs typeface="Arial"/>
              </a:rPr>
              <a:t>BuildingState</a:t>
            </a:r>
            <a:r>
              <a:rPr sz="1000" dirty="0">
                <a:latin typeface="Arial"/>
                <a:ea typeface="Arial"/>
                <a:cs typeface="Arial"/>
              </a:rPr>
              <a:t> -&gt; LLM tool selection -&gt; safety validation.</a:t>
            </a:r>
          </a:p>
          <a:p>
            <a:pPr marL="342900" indent="-342900">
              <a:buFont typeface="Arial"/>
              <a:buChar char="•"/>
            </a:pPr>
            <a:r>
              <a:rPr sz="1000" dirty="0">
                <a:latin typeface="Arial"/>
                <a:ea typeface="Arial"/>
                <a:cs typeface="Arial"/>
              </a:rPr>
              <a:t>Copy IDF -&gt; optimized </a:t>
            </a:r>
            <a:r>
              <a:rPr sz="1000" dirty="0" err="1">
                <a:latin typeface="Arial"/>
                <a:ea typeface="Arial"/>
                <a:cs typeface="Arial"/>
              </a:rPr>
              <a:t>EnergyPlus</a:t>
            </a:r>
            <a:r>
              <a:rPr sz="1000" dirty="0">
                <a:latin typeface="Arial"/>
                <a:ea typeface="Arial"/>
                <a:cs typeface="Arial"/>
              </a:rPr>
              <a:t> run -&gt; measured comparison.</a:t>
            </a:r>
          </a:p>
          <a:p>
            <a:pPr marL="342900" indent="-342900">
              <a:buFont typeface="Arial"/>
              <a:buChar char="•"/>
            </a:pPr>
            <a:r>
              <a:rPr sz="1000" dirty="0">
                <a:latin typeface="Arial"/>
                <a:ea typeface="Arial"/>
                <a:cs typeface="Arial"/>
              </a:rPr>
              <a:t>Tools: validate, run, parse, apply, compare, report.</a:t>
            </a:r>
          </a:p>
          <a:p>
            <a:pPr marL="342900" indent="-342900">
              <a:buFont typeface="Arial"/>
              <a:buChar char="•"/>
            </a:pPr>
            <a:r>
              <a:rPr sz="1000" dirty="0">
                <a:latin typeface="Arial"/>
                <a:ea typeface="Arial"/>
                <a:cs typeface="Arial"/>
              </a:rPr>
              <a:t>Outputs: JSON/CSV reports and dashboard views.</a:t>
            </a:r>
          </a:p>
          <a:p>
            <a:pPr marL="342900" indent="-342900">
              <a:buFont typeface="Arial"/>
              <a:buChar char="•"/>
            </a:pPr>
            <a:r>
              <a:rPr sz="1000" dirty="0">
                <a:latin typeface="Arial"/>
                <a:ea typeface="Arial"/>
                <a:cs typeface="Arial"/>
              </a:rPr>
              <a:t>Original IDF is never overwritten.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E4DC6-E07F-46FB-9A63-FAD4A815FE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CC6AC-2EB3-4FBA-9BD6-CCB97E1B723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SMART BUILDING AI AGENT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FBD172-EFFB-4513-15C2-9E8AD3E49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015" y="873041"/>
            <a:ext cx="8375969" cy="559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02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EEDF12A9-6349-4BA3-A493-0A8224F0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EC4745B6-C9E4-48BC-AD1C-BAB9F99EF9A9}"/>
              </a:ext>
            </a:extLst>
          </p:cNvPr>
          <p:cNvSpPr>
            <a:spLocks noGrp="1"/>
          </p:cNvSpPr>
          <p:nvPr/>
        </p:nvSpPr>
        <p:spPr>
          <a:xfrm>
            <a:off x="609600" y="2533653"/>
            <a:ext cx="9385300" cy="39319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Verified: Official EnergyPlus office model; baseline and optimized runs exit code 0.</a:t>
            </a:r>
          </a:p>
          <a:p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Measured: 129.19B -&gt; 126.30B; 2.24% reduction; 2 recommendations.</a:t>
            </a:r>
          </a:p>
          <a:p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Comfort: Degraded in this run; the tradeoff is shown explicitly.</a:t>
            </a:r>
          </a:p>
          <a:p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Risks: LLM schema, long context, and IDF mappings.</a:t>
            </a:r>
          </a:p>
          <a:p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Mitigation: JSON mode, retry, tools, trusted paths, safety validation, and logs.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2D82-4F5C-4DAD-8E7E-1C2A9F55CA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FD6AB9A-5F9E-5F59-51AB-3C8734130965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cap="none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294576-A3B6-48FC-9CD7-AEAE1A7278E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SMART BUILDING AI AGENT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>
            <a:spLocks noGrp="1"/>
          </p:cNvSpPr>
          <p:nvPr/>
        </p:nvSpPr>
        <p:spPr>
          <a:xfrm>
            <a:off x="609600" y="2533653"/>
            <a:ext cx="9385300" cy="3200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Working prototype:</a:t>
            </a:r>
          </a:p>
          <a:p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Streamlit dashboard: live progress, charts, and downloads</a:t>
            </a:r>
          </a:p>
          <a:p>
            <a:pPr marL="800100" lvl="1" indent="-342900"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EnergyPlus runner + CSV/ESO/ERR/END parser</a:t>
            </a:r>
          </a:p>
          <a:p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Custom tools: registry, dispatcher, ToolCall/ToolResult</a:t>
            </a:r>
          </a:p>
          <a:p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t>Safety validation on copied IDFs; original preserved</a:t>
            </a:r>
          </a:p>
          <a:p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t>Outputs: JSON/CSV reports and official IDF + weather input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E5B3003-2C54-13C6-9832-7637201064DE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cap="none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SMART BUILDING AI AGENT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248FB9F-F22C-4495-AD7E-A155DFBD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59ADB-CA04-481D-BC09-6274F5878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C630A04-5A25-9E0C-9436-126091DB86B3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cap="none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E56E77-3EC9-42D4-B435-A87B2C40345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80768" y="4242418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SMART BUILDING AI AGENT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A59DBE-708F-9A1B-82D2-DB7C69D97407}"/>
              </a:ext>
            </a:extLst>
          </p:cNvPr>
          <p:cNvSpPr txBox="1"/>
          <p:nvPr/>
        </p:nvSpPr>
        <p:spPr>
          <a:xfrm>
            <a:off x="1559717" y="1434510"/>
            <a:ext cx="928245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1. Zhang et al. (2019) – Building HVAC Scheduling Using Reinforcement Learning</a:t>
            </a:r>
          </a:p>
          <a:p>
            <a:pPr>
              <a:buNone/>
            </a:pPr>
            <a:r>
              <a:rPr lang="en-IN" sz="1400" b="1" dirty="0"/>
              <a:t>Summary:</a:t>
            </a:r>
            <a:r>
              <a:rPr lang="en-IN" sz="1400" dirty="0"/>
              <a:t> Demonstrates </a:t>
            </a:r>
            <a:r>
              <a:rPr lang="en-IN" sz="1400" dirty="0" err="1"/>
              <a:t>EnergyPlus</a:t>
            </a:r>
            <a:r>
              <a:rPr lang="en-IN" sz="1400" dirty="0"/>
              <a:t>-based reinforcement learning for optimizing HVAC schedules while reducing energy consumption and maintaining occupant comfort.</a:t>
            </a:r>
          </a:p>
          <a:p>
            <a:pPr>
              <a:buNone/>
            </a:pPr>
            <a:br>
              <a:rPr lang="en-IN" sz="1400" dirty="0"/>
            </a:br>
            <a:endParaRPr lang="en-IN" sz="1400" dirty="0"/>
          </a:p>
          <a:p>
            <a:pPr>
              <a:buNone/>
            </a:pPr>
            <a:r>
              <a:rPr lang="en-IN" sz="1400" b="1" dirty="0"/>
              <a:t>2. Liu et al. (2026) – Balancing Comfort and Cost via Large Language Models</a:t>
            </a:r>
          </a:p>
          <a:p>
            <a:pPr>
              <a:buNone/>
            </a:pPr>
            <a:r>
              <a:rPr lang="en-IN" sz="1400" b="1" dirty="0"/>
              <a:t>Summary:</a:t>
            </a:r>
            <a:r>
              <a:rPr lang="en-IN" sz="1400" dirty="0"/>
              <a:t> Introduces an LLM-powered multi-agent framework that intelligently manages HVAC systems by balancing energy efficiency with thermal comfort.</a:t>
            </a:r>
          </a:p>
          <a:p>
            <a:pPr>
              <a:buNone/>
            </a:pPr>
            <a:br>
              <a:rPr lang="en-IN" sz="1400" dirty="0"/>
            </a:br>
            <a:endParaRPr lang="en-IN" sz="1400" dirty="0"/>
          </a:p>
          <a:p>
            <a:pPr>
              <a:buNone/>
            </a:pPr>
            <a:r>
              <a:rPr lang="en-IN" sz="1400" b="1" dirty="0"/>
              <a:t>3. He &amp; </a:t>
            </a:r>
            <a:r>
              <a:rPr lang="en-IN" sz="1400" b="1" dirty="0" err="1"/>
              <a:t>Jazizadeh</a:t>
            </a:r>
            <a:r>
              <a:rPr lang="en-IN" sz="1400" b="1" dirty="0"/>
              <a:t> (2025) – Context-aware LLM-based AI Agents for Smart Buildings</a:t>
            </a:r>
          </a:p>
          <a:p>
            <a:pPr>
              <a:buNone/>
            </a:pPr>
            <a:r>
              <a:rPr lang="en-IN" sz="1400" b="1" dirty="0"/>
              <a:t>Summary:</a:t>
            </a:r>
            <a:r>
              <a:rPr lang="en-IN" sz="1400" dirty="0"/>
              <a:t> Presents context-aware AI agents that use large language models for autonomous building energy management and decision-making.</a:t>
            </a:r>
          </a:p>
          <a:p>
            <a:pPr>
              <a:buNone/>
            </a:pPr>
            <a:br>
              <a:rPr lang="en-IN" sz="1400" dirty="0"/>
            </a:br>
            <a:endParaRPr lang="en-IN" sz="1400" dirty="0"/>
          </a:p>
          <a:p>
            <a:pPr>
              <a:buNone/>
            </a:pPr>
            <a:r>
              <a:rPr lang="en-IN" sz="1400" b="1" dirty="0"/>
              <a:t>4. U.S. DOE – </a:t>
            </a:r>
            <a:r>
              <a:rPr lang="en-IN" sz="1400" b="1" dirty="0" err="1"/>
              <a:t>EnergyPlus</a:t>
            </a:r>
            <a:r>
              <a:rPr lang="en-IN" sz="1400" b="1" dirty="0"/>
              <a:t>™ Engineering Reference</a:t>
            </a:r>
          </a:p>
          <a:p>
            <a:pPr>
              <a:buNone/>
            </a:pPr>
            <a:r>
              <a:rPr lang="en-IN" sz="1400" b="1" dirty="0"/>
              <a:t>Summary:</a:t>
            </a:r>
            <a:r>
              <a:rPr lang="en-IN" sz="1400" dirty="0"/>
              <a:t> Provides the validated simulation engine used for </a:t>
            </a:r>
            <a:r>
              <a:rPr lang="en-IN" sz="1400" dirty="0" err="1"/>
              <a:t>modeling</a:t>
            </a:r>
            <a:r>
              <a:rPr lang="en-IN" sz="1400" dirty="0"/>
              <a:t> building energy consumption, HVAC performance, and occupant comfort.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Microsoft Office PowerPoint</Application>
  <DocSecurity>0</DocSecurity>
  <PresentationFormat>Widescreen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TradeGothic</vt:lpstr>
      <vt:lpstr>Office Theme</vt:lpstr>
      <vt:lpstr>PowerPoint Presentation</vt:lpstr>
      <vt:lpstr>AUTONOMOUS BUILDING OPTIMIZATION</vt:lpstr>
      <vt:lpstr>TECHNICAL APPROACH</vt:lpstr>
      <vt:lpstr>FEASIBILITY AND VIABILITY</vt:lpstr>
      <vt:lpstr>ARTIFACTS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Krishna Karthik Prakki</cp:lastModifiedBy>
  <cp:revision>1</cp:revision>
  <dcterms:created xsi:type="dcterms:W3CDTF">2026-07-26T13:36:15Z</dcterms:created>
  <dcterms:modified xsi:type="dcterms:W3CDTF">2026-07-26T17:34:07Z</dcterms:modified>
</cp:coreProperties>
</file>